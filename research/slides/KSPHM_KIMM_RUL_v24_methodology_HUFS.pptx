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KSPHM-KIMM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베어링 RUL 예측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DCE8FF"/>
                </a:solidFill>
                <a:latin typeface="Apple SD Gothic Neo"/>
              </a:rPr>
              <a:t>v24: Fast Kurtogram · DTC-VAE HI · TCN-Transformer · BiLSTM · HI-conditioned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Apple SD Gothic Neo"/>
              </a:rPr>
              <a:t>기초 개념부터 제출 판단까지 설명 가능한 발표자료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063240"/>
            <a:ext cx="7406640" cy="64008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27832"/>
            <a:ext cx="7040879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enlo"/>
              </a:rPr>
              <a:t>RUL = Remaining Useful Life = 남은 수명(초)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051560"/>
            <a:ext cx="30175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051560"/>
            <a:ext cx="73152" cy="283464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9368" y="1197863"/>
            <a:ext cx="2697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1554480"/>
            <a:ext cx="2697479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현재 상태값만 보지 않고
열화 신호의 크기, 충격성, 결함 주파수, 건강지수, 시간 흐름을 함께 본다.</a:t>
            </a:r>
          </a:p>
        </p:txBody>
      </p:sp>
      <p:pic>
        <p:nvPicPr>
          <p:cNvPr id="12" name="Picture 11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199632"/>
            <a:ext cx="1417320" cy="2872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1160" y="635508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FC8FF"/>
                </a:solidFill>
                <a:latin typeface="Apple SD Gothic Neo"/>
              </a:rPr>
              <a:t>HUFS · Navy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발표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444752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5BA8"/>
                </a:solidFill>
                <a:latin typeface="Apple SD Gothic Neo"/>
              </a:rPr>
              <a:t>01  챌린지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2024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Train은 EOL까지, Validation은 EOL 전까지만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444752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D8C5E"/>
                </a:solidFill>
                <a:latin typeface="Apple SD Gothic Neo"/>
              </a:rPr>
              <a:t>02  기초 신호 개념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2024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kurtosis, envelope, Hilbert, order, 600s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73152" cy="1444752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56362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B9A2D"/>
                </a:solidFill>
                <a:latin typeface="Apple SD Gothic Neo"/>
              </a:rPr>
              <a:t>03  피처 엔지니어링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2024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Fast Kurtogram, 4채널 피처, 동역학 피처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73152" cy="1444752"/>
          </a:xfrm>
          <a:prstGeom prst="rect">
            <a:avLst/>
          </a:prstGeom>
          <a:solidFill>
            <a:srgbClr val="0A2E61"/>
          </a:solidFill>
          <a:ln>
            <a:solidFill>
              <a:srgbClr val="0A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7530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2E61"/>
                </a:solidFill>
                <a:latin typeface="Apple SD Gothic Neo"/>
              </a:rPr>
              <a:t>04  모델 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3192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DTC-VAE HI, TCN-Transformer, BiLSTM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29000"/>
            <a:ext cx="73152" cy="1444752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7530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23934"/>
                </a:solidFill>
                <a:latin typeface="Apple SD Gothic Neo"/>
              </a:rPr>
              <a:t>05  v24 앙상블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HI가 낮으면 v17, 높으면 v22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73152" cy="1444752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575304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B61FF"/>
                </a:solidFill>
                <a:latin typeface="Apple SD Gothic Neo"/>
              </a:rPr>
              <a:t>06  제출 판단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931920"/>
            <a:ext cx="292607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Test5 644s의 의미와 리스크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정식 챌린지 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40817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325880"/>
            <a:ext cx="6464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목표: Train 데이터로 모델을 학습해 Validation 베어링의 잔여수명(RUL)을 예측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212848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30552"/>
            <a:ext cx="6464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Train: 열화시험 중단 조건(EOL)에 도달할 때까지 측정된 run-to-failure 데이터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017520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35224"/>
            <a:ext cx="6464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Validation: EOL에 도달하지 않았고 결함이 진행 중인 상태까지만 제공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822191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739896"/>
            <a:ext cx="6464808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데이터: 진동 25.6kHz, 4채널, 10분마다 1분 측정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261104"/>
            <a:ext cx="6464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운전 조건: 약 700-950 rpm, 1시간 단위 변경, 다량 노이즈 포함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98079" y="1234440"/>
          <a:ext cx="39776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560320"/>
              </a:tblGrid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값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베어링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NSK 30306 Tapered Roller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축방향/반경방향 하중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15 kN / 10 kN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EOL 조건 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하우징 온도 &gt;= 200°C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EOL 조건 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회전 토크 &lt;= -20 Nm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제출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Validation 각 베어링 RUL(초)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22960" y="457200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72000"/>
            <a:ext cx="73152" cy="82296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18304"/>
            <a:ext cx="10195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23934"/>
                </a:solidFill>
                <a:latin typeface="Apple SD Gothic Neo"/>
              </a:rPr>
              <a:t>중요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74920"/>
            <a:ext cx="10195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A38"/>
                </a:solidFill>
                <a:latin typeface="Apple SD Gothic Neo"/>
              </a:rPr>
              <a:t>현재 코드의 Test1~Test6는 공식 문맥상 Validation Set이다. 즉, 각 베어링의 마지막 관측 시점 이후 남은 수명을 맞히는 문제다.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평가 지표: 비대칭 RUL 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30352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99032"/>
            <a:ext cx="493775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Er = 100 × (ActRUL - PredRUL) / ActRUL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84831"/>
            <a:ext cx="5303520" cy="102412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4937759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enlo"/>
              </a:rPr>
              <a:t>A_RUL = exp(-ln(0.5) × Er / 20),  if Er ≤ 0
A_RUL = exp(+ln(0.5) × Er / 50),  if Er &gt;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234440"/>
            <a:ext cx="4846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234440"/>
            <a:ext cx="73152" cy="1874519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7" y="1380744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C23934"/>
                </a:solidFill>
                <a:latin typeface="Apple SD Gothic Neo"/>
              </a:rPr>
              <a:t>왜 비대칭인가?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7" y="1737360"/>
            <a:ext cx="4526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A38"/>
                </a:solidFill>
                <a:latin typeface="Apple SD Gothic Neo"/>
              </a:rPr>
              <a:t>PredRUL &gt; ActRUL이면 실제보다 오래 남았다고 본 늦은 예측이다. 산업 현장에서는 고장 직전 장비를 계속 돌리게 되므로 더 위험하다.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3703320"/>
          <a:ext cx="4754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463040"/>
              </a:tblGrid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상황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오차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점수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완벽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1.000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늦은 예측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20%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이른 예측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늦은 예측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0.707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이른 예측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25%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0.707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92240" y="3749039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49039"/>
            <a:ext cx="73152" cy="150876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3895344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B9A2D"/>
                </a:solidFill>
                <a:latin typeface="Apple SD Gothic Neo"/>
              </a:rPr>
              <a:t>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4251959"/>
            <a:ext cx="452628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A38"/>
                </a:solidFill>
                <a:latin typeface="Apple SD Gothic Neo"/>
              </a:rPr>
              <a:t>늦은 예측이 이른 예측보다 약 2.5배 가혹하다. 그래서 EOL 의심이 강하면 보수적으로 짧게 예측하는 전략이 합리적이다.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600s의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73152" cy="155448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3502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측정 간격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91640"/>
            <a:ext cx="31089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데이터는 10분마다 1분씩 측정된다. 따라서 측정 인덱스 간 시간 간격은 600초다.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1887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73152" cy="15544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33502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Train 라벨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691640"/>
            <a:ext cx="31089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코드에서는 마지막 측정 이후 다음 600초 지점을 EOL로 가정한다. 그래서 마지막 RUL은 대체로 600s가 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73152" cy="155448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33502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예측 하한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691640"/>
            <a:ext cx="301752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v22/v24는 예측값을 max(pred, 600)으로 자른다. 너무 작은 초 단위 예측을 막는 안전장치다.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429000"/>
            <a:ext cx="438912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593592"/>
            <a:ext cx="402335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eol = last_measurement_time + 600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29000"/>
            <a:ext cx="3749039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93592"/>
            <a:ext cx="338327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pred = max(pred, 600)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51C41"/>
                </a:solidFill>
                <a:latin typeface="Apple SD Gothic Neo"/>
              </a:rPr>
              <a:t>따라서 Test5 = 644s는 '공식 최소값'이 아니라, 모델이 '다음 10분 안팎 EOL'로 판단했다는 의미다.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Kurtosis: 충격성 결함을 보는 기본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06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887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188720"/>
            <a:ext cx="73152" cy="233172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335024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05BA8"/>
                </a:solidFill>
                <a:latin typeface="Apple SD Gothic Neo"/>
              </a:rPr>
              <a:t>Kurtosis란?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691640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신호가 얼마나 '뾰족하게 튀는지'를 보는 통계량이다. 평균 근처에 잔잔한 값만 있으면 낮고, 가끔 큰 충격이 튀면 높다.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325880"/>
            <a:ext cx="4297680" cy="74980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90472"/>
            <a:ext cx="393192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enlo"/>
              </a:rPr>
              <a:t>kurtosis = E[(x - μ)^4] / σ^4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42316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423160"/>
            <a:ext cx="73152" cy="109728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569464"/>
            <a:ext cx="3977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베어링에서의 의미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926080"/>
            <a:ext cx="397764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균열·박리·찍힘이 생기면 회전할 때마다 충격이 발생한다. 이때 kurtosis가 상승할 수 있다.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051560" y="4114800"/>
          <a:ext cx="8503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63440"/>
                <a:gridCol w="2011680"/>
              </a:tblGrid>
              <a:tr h="2857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상태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파형 느낌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Kurtosis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정상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잔잔하고 균일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낮음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초기 결함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가끔 퍽 튐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상승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심한 결함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충격 반복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F2A38"/>
                          </a:solidFill>
                          <a:latin typeface="Apple SD Gothic Neo"/>
                        </a:rPr>
                        <a:t>높음 또는 불안정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Fast Kurtogram: 충격이 잘 보이는 주파수 대역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07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283464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0744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정확한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333756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우리가 코드에서 fast_kurt라고 부르는 것은 단순 '빠른 kurtosis'가 아니라 Fast Kurtogram 스타일의 대역 선택이다.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34440"/>
            <a:ext cx="30632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234440"/>
            <a:ext cx="73152" cy="283464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380744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무엇을 하나?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1737360"/>
            <a:ext cx="27432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여러 주파수 대역을 후보로 두고, 각 대역에서 충격성(kurtosis)이 가장 큰 곳을 고른다.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23444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1234440"/>
            <a:ext cx="73152" cy="283464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38074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왜 필요한가?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1737360"/>
            <a:ext cx="310896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베어링 결함 충격은 원신호 전체보다 특정 공진 대역에서 더 잘 보인다. 좋은 대역을 먼저 고르면 SNR이 좋아진다.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81728"/>
            <a:ext cx="1042416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100584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enlo"/>
              </a:rPr>
              <a:t>candidate bands: 0.5-2k, 1-4k, 2-6k, 3-8k, 4-10k, 5-12k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Envelope와 Hilbert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08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70432"/>
            <a:ext cx="3246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70432"/>
            <a:ext cx="73152" cy="237744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1673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73352"/>
            <a:ext cx="2926079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진동 신호의 '겉선' 또는 '포락선'이다. 빠르게 흔들리는 원신호 안에서 충격 반복 패턴을 더 잘 보이게 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170432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170432"/>
            <a:ext cx="73152" cy="237744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316736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Hilbert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673352"/>
            <a:ext cx="3154679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실수 신호 x(t)에 90도 위상 차이 성분을 만들어 analytic signal을 구성하는 수학 도구다.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170432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70432"/>
            <a:ext cx="73152" cy="237744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316736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왜 쓰나?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673352"/>
            <a:ext cx="3154679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베어링 결함은 반복 충격이다. Envelope FFT를 보면 BPFI/BPFO/BSF/FTF 주변 에너지가 더 잘 드러난다.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4160520"/>
            <a:ext cx="8229600" cy="96012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325112"/>
            <a:ext cx="7863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enlo"/>
              </a:rPr>
              <a:t>analytic signal: z(t) = x(t) + j·H{x(t)}
envelope: e(t) = |z(t)|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Order와 베어링 결함 주파수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09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80744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298448"/>
            <a:ext cx="5641848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RPM이 바뀌면 결함 주파수의 Hz 위치도 같이 이동한다.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975103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92807"/>
            <a:ext cx="56418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Order는 주파수를 회전주파수로 나눈 좌표라 RPM 변화에 덜 흔들린다.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852927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70632"/>
            <a:ext cx="56418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코드에서는 각 결함 order와 2배·3배 고조파 주변 ±0.15 대역 에너지를 합산한다.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444752"/>
            <a:ext cx="4251960" cy="713232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609344"/>
            <a:ext cx="3886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Order = frequency / (RPM / 60)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97280" y="3977639"/>
          <a:ext cx="6766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011680"/>
                <a:gridCol w="1417320"/>
                <a:gridCol w="1920240"/>
              </a:tblGrid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Apple SD Gothic Neo"/>
                        </a:rPr>
                        <a:t>결함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Apple SD Gothic Neo"/>
                        </a:rPr>
                        <a:t>Hz @1000RPM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Apple SD Gothic Neo"/>
                        </a:rPr>
                        <a:t>Order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BPFI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140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8.40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내륜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BPFO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93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5.58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외륜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BSF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78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4.68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롤러/볼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FTF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6.7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0.40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19" b="0">
                          <a:solidFill>
                            <a:srgbClr val="1F2A38"/>
                          </a:solidFill>
                          <a:latin typeface="Apple SD Gothic Neo"/>
                        </a:rPr>
                        <a:t>케이지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v24 피처 엔지니어링 전체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10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338328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8074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05BA8"/>
                </a:solidFill>
                <a:latin typeface="Apple SD Gothic Neo"/>
              </a:rPr>
              <a:t>시간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37360"/>
            <a:ext cx="23317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RMS
STD
Peak
Crest
Skewness
Kurtosis
P2P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3444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73152" cy="33832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38074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D8C5E"/>
                </a:solidFill>
                <a:latin typeface="Apple SD Gothic Neo"/>
              </a:rPr>
              <a:t>Envelope/Order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1737360"/>
            <a:ext cx="23317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Fast Kurtogram
Band-pass
Hilbert envelope
BPFI/BPFO/BSF/FTF energy
SNR
Harmonic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3444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73152" cy="338328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38074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B9A2D"/>
                </a:solidFill>
                <a:latin typeface="Apple SD Gothic Neo"/>
              </a:rPr>
              <a:t>4채널 대칭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1737360"/>
            <a:ext cx="23317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채널별 max/min/range/std
Top2 평균
채널 간 correlation
Energy ratio
Energy std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560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34440"/>
            <a:ext cx="73152" cy="338328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380744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C23934"/>
                </a:solidFill>
                <a:latin typeface="Apple SD Gothic Neo"/>
              </a:rPr>
              <a:t>운전/상태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1737360"/>
            <a:ext cx="2240279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RPM
Torque
Temperature
Power proxy
Temp diff
DTC-VAE HI
Latent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51C41"/>
                </a:solidFill>
                <a:latin typeface="Apple SD Gothic Neo"/>
              </a:rPr>
              <a:t>주의: Validation/Test의 운전조건 CSV는 현재 비어 있어, 최종 예측에서는 진동 기반 피처와 HI가 더 중요하다.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동역학 피처: 현재값보다 '변화 속도'가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11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3832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29718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0744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현재값 피처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3063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현재 RMS가 얼마인가?
현재 kurtosis가 얼마인가?
현재 HI가 얼마인가?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832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73152" cy="29718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80744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동역학 피처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37360"/>
            <a:ext cx="3063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최근 5개에서 얼마나 증가했는가?
기울기는 얼마인가?
가속도는 있는가?
계속 단조 증가했는가?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3832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73152" cy="297180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380744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737360"/>
            <a:ext cx="3063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HI가 높아도 진짜 EOL인지, 한 번 튄 노이즈인지 구분해야 한다. 특히 Test5 판단에 중요하다.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33272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56631"/>
            <a:ext cx="9966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enlo"/>
              </a:rPr>
              <a:t>dynamic candidates: d_HI, slope_HI_5, acc_HI, roll_std_HI, d_env_kurt, d_energy_ratio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DTC-VAE: 건강지수 HI를 만드는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12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73152" cy="301752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38074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VAE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73736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Variational AutoEncoder. 많은 피처를 작은 latent vector로 압축하고 다시 복원하도록 학습한다.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73152" cy="301752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38074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DTC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73736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Deep/Degradation Temporal Consistency. 시간이 지날수록 건강지수가 대체로 증가하도록 제약을 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73152" cy="301752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38074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37360"/>
            <a:ext cx="3017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latent_0을 0~1로 정규화해 Health Indicator로 사용한다. 높을수록 고장에 가깝다고 해석한다.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709160"/>
            <a:ext cx="978408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873752"/>
            <a:ext cx="941831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loss = reconstruction + KL + monotonicity + trendability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CUSUM과 FPT: 열화 시작점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13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70432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70432"/>
            <a:ext cx="73152" cy="32004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1673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CUSUM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73352"/>
            <a:ext cx="30632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Cumulative Sum. 초기 정상 구간의 평균/표준편차를 기준으로, 이후 상태가 누적해서 벗어나는지 감지한다.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70432"/>
            <a:ext cx="73152" cy="32004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1673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FPT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73352"/>
            <a:ext cx="30632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First Predicting Time. HI가 정상 범위를 벗어나 열화가 시작됐다고 판단하는 첫 시점이다.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70432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70432"/>
            <a:ext cx="73152" cy="320040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31673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Piecewise RUL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673352"/>
            <a:ext cx="30632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FPT 전에는 건강 구간으로 보고 RUL을 평탄하게 둔다. FPT 후에는 EOL까지 선형 감소시킨다.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617720"/>
            <a:ext cx="8595360" cy="91440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78231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enlo"/>
              </a:rPr>
              <a:t>S_t = max(0, S_{t-1} + (HI_t - μ_0)/σ_0 - k)
if S_t &gt; h → FPT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TCN과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14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73152" cy="310896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35024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TCN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91640"/>
            <a:ext cx="3154679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A38"/>
                </a:solidFill>
                <a:latin typeface="Apple SD Gothic Neo"/>
              </a:rPr>
              <a:t>Temporal Convolutional Network. 시간 방향 1D convolution으로 최근 패턴과 국소 변화 흐름을 잡는다. Dilated convolution으로 더 넓은 과거도 본다.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73152" cy="310896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35024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91640"/>
            <a:ext cx="3154679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A38"/>
                </a:solidFill>
                <a:latin typeface="Apple SD Gothic Neo"/>
              </a:rPr>
              <a:t>Self-attention으로 시점들 사이의 관계를 본다. 어떤 시점이 마지막 RUL 예측에 중요한지 학습한다.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8872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73152" cy="310896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33502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우리 TFTModel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91640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A38"/>
                </a:solidFill>
                <a:latin typeface="Apple SD Gothic Neo"/>
              </a:rPr>
              <a:t>Variable Selection → TCN → Transformer Encoder → RUL Head. 이름은 TFT지만 실제로 TCN-Transformer 하이브리드다.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00600"/>
            <a:ext cx="1005840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965192"/>
            <a:ext cx="9692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enlo"/>
              </a:rPr>
              <a:t>Feature sequence(10 steps) → VSN → TCN → Transformer → RUL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TFT와 BiLSTM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15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315468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0744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TFT는 무슨 줄임말?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4800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Temporal Fusion Transformer. 원래는 시계열 예측용 Transformer 계열 모델이다. 우리 코드는 TFT 원 논문 전체 구현은 아니지만, variable selection과 temporal attention 구조를 차용했다.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4892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73152" cy="31546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38074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BiLSTM은 왜 같이 쓰나?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73736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Bidirectional LSTM. 작은 데이터에서 Transformer보다 안정적으로 추세를 잡는 경우가 있어, 아키텍처 다양성을 확보하기 위해 함께 앙상블한다.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34440" y="4709160"/>
          <a:ext cx="8869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모델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강점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약점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TCN/TFT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국소 패턴+attention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작은 데이터 과적합 위험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BiLSTM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추세 안정성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급격 변화는 둔할 수 있음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Ensemble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상호 보완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50" b="0">
                          <a:solidFill>
                            <a:srgbClr val="1F2A38"/>
                          </a:solidFill>
                          <a:latin typeface="Apple SD Gothic Neo"/>
                        </a:rPr>
                        <a:t>복잡도 증가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학습: 증강, 가중치, 점수 기반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16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70432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70432"/>
            <a:ext cx="73152" cy="306324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1673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증강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73352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Gaussian noise injection
- 입력 피처에 작은 노이즈 추가
Mixup
- 두 샘플을 섞어 중간 상태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70432"/>
            <a:ext cx="73152" cy="306324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1673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EOL 가중치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73352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v22는 RUL이 가장 작은 마지막 5개 샘플에 50배, 다음 15개 샘플에 10배 가중치를 준다.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70432"/>
            <a:ext cx="33375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70432"/>
            <a:ext cx="73152" cy="306324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3167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73352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늦은 예측을 더 강하게 벌주는 asymmetric MSE와 공식 점수를 흉내 낸 score loss를 섞는다.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828032"/>
            <a:ext cx="996696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39" y="4992624"/>
            <a:ext cx="9601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enlo"/>
              </a:rPr>
              <a:t>loss = α·weighted_asym_MSE + (1-α)·score_loss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LOBO 검증: 베어링 하나를 통째로 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17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1673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234440"/>
            <a:ext cx="58704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Train1을 숨기고 Train2~4로 학습한 뒤 Train1을 예측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21408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39112"/>
            <a:ext cx="5870448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Train2, Train3, Train4도 같은 방식으로 반복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642615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60320"/>
            <a:ext cx="58704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랜덤 split은 같은 베어링의 앞/뒤가 섞여 실제 일반화 성능을 과대평가할 수 있음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47287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64991"/>
            <a:ext cx="58704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Validation/Test는 새로운 베어링이므로 LOBO가 더 정직한 검증이다.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2588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325880"/>
            <a:ext cx="73152" cy="100584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472184"/>
            <a:ext cx="3520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182880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전체 RUL 곡선 평균 점수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65176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2651760"/>
            <a:ext cx="73152" cy="100584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2798064"/>
            <a:ext cx="3520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15468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마지막 관측 시점만 평가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977639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3977639"/>
            <a:ext cx="73152" cy="100584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4123944"/>
            <a:ext cx="3520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Combined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4480559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0.7×Full + 0.3×Last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v24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v17과 v22의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18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310896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0744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05BA8"/>
                </a:solidFill>
                <a:latin typeface="Apple SD Gothic Neo"/>
              </a:rPr>
              <a:t>v17: 안정적인 기본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475488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1채널 중심의 강건한 피처와 TFT/BiLSTM 앙상블. 중간 수명 구간과 일반적인 패턴에서 안정적이다.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3444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73152" cy="310896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380744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C23934"/>
                </a:solidFill>
                <a:latin typeface="Apple SD Gothic Neo"/>
              </a:rPr>
              <a:t>v22: EOL 민감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737360"/>
            <a:ext cx="448056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4채널 대칭 피처, 온도 차이, EOL 50배 가중치, 늦은 예측 5배 페널티. 고장 직전 신호에 더 민감하다.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800600"/>
            <a:ext cx="9692640" cy="713232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965192"/>
            <a:ext cx="93268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enlo"/>
              </a:rPr>
              <a:t>v24 = HI가 낮으면 v17, HI가 높으면 v22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v17 상세: 안정적인 기본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19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10744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63440"/>
                <a:gridCol w="4663440"/>
              </a:tblGrid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발표 포인트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1. 입력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4채널 진동 중 ch0 중심 + 전체 RMS 보조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가장 안정적인 기준 채널을 중심으로 시작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2. 전처리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Fast Kurtogram → 최적 충격 대역 선택 → Band-pass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결함 충격이 잘 보이는 주파수 대역을 먼저 찾음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3. Envelope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Hilbert envelope → envelope spectrum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충격 반복 패턴을 결함 order 에너지로 변환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4. 피처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RMS, kurtosis, crest, p2p, BPFI/BPFO/BSF/FTF energy, SNR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시간 통계 + 결함 주파수 피처 결합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5. 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DTC-VAE latent_0 → 0~1 Health Indicator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열화 방향성을 갖는 상태지수 생성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6. 라벨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CUSUM FPT + Piecewise RUL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초기 건강 구간과 열화 구간을 분리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0468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051C41"/>
                </a:solidFill>
                <a:latin typeface="Apple SD Gothic Neo"/>
              </a:rPr>
              <a:t>v17은 전체적으로 안정적인 베이스라인이다. Test1·2·3·4·6에서는 최종 v24가 거의 v17 예측을 그대로 사용한다.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v22 상세: EOL 민감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20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10744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63440"/>
                <a:gridCol w="4663440"/>
              </a:tblGrid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Apple SD Gothic Neo"/>
                        </a:rPr>
                        <a:t>v17 대비 변화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1. 입력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4채널 전체 진동 사용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ch0 중심에서 4채널 전체로 확장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2. 채널별 피처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각 채널의 RMS, kurtosis, envelope, order energy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채널별 결함 감도 차이를 반영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3. 채널 대칭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max/min/range/std/top2, correlation, energy ratio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특정 채널에서만 보이는 고장 대응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4. 운전/온도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rpm, torque, temp_diff, temp_max, temp_ratio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가능한 운전조건 정보를 함께 사용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5. 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4채널 피처 기반 DTC-VAE 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v24 블렌딩 기준으로 사용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6. 라벨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rul_s 직접 학습 + 600s 하한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90" b="0">
                          <a:solidFill>
                            <a:srgbClr val="1F2A38"/>
                          </a:solidFill>
                          <a:latin typeface="Apple SD Gothic Neo"/>
                        </a:rPr>
                        <a:t>EOL 직전 예측에 더 직접적으로 맞춤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0468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C23934"/>
                </a:solidFill>
                <a:latin typeface="Apple SD Gothic Neo"/>
              </a:rPr>
              <a:t>v22는 고장 직전 신호를 놓치지 않기 위해 설계했다. Test5에서 HI가 0.944로 높게 나타나 v22 예측이 강하게 반영된다.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데이터 증강과 불균형 보완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21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24358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5BA8"/>
                </a:solidFill>
                <a:latin typeface="Apple SD Gothic Neo"/>
              </a:rPr>
              <a:t>Gaussian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60020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입력 피처에 작은 노이즈를 더한다.
설정: std = 0.035
목적: 실제 진동 데이터의 노이즈에 덜 흔들리게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097280"/>
            <a:ext cx="73152" cy="18288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4358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D8C5E"/>
                </a:solidFill>
                <a:latin typeface="Apple SD Gothic Neo"/>
              </a:rPr>
              <a:t>Mixup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60020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두 학습 샘플을 섞어 중간 상태 샘플을 만든다.
설정: alpha = 0.2, prob = 0.3
목적: Train 4개뿐인 데이터 부족 완화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97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097280"/>
            <a:ext cx="73152" cy="182880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24358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EOL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600200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F2A38"/>
                </a:solidFill>
                <a:latin typeface="Apple SD Gothic Neo"/>
              </a:rPr>
              <a:t>고장 직전 샘플에 큰 가중치를 준다.
v22: 마지막 5개 50배, 다음 15개 10배
목적: Last RUL 예측 강화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832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73152" cy="141732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52958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Score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8862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>
                <a:solidFill>
                  <a:srgbClr val="1F2A38"/>
                </a:solidFill>
                <a:latin typeface="Apple SD Gothic Neo"/>
              </a:rPr>
              <a:t>공식 A_RUL 점수를 직접 흉내 낸 loss를 섞는다. 늦은 예측을 줄이는 방향으로 학습한다.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3832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383280"/>
            <a:ext cx="73152" cy="1417320"/>
          </a:xfrm>
          <a:prstGeom prst="rect">
            <a:avLst/>
          </a:prstGeom>
          <a:solidFill>
            <a:srgbClr val="0A2E61"/>
          </a:solidFill>
          <a:ln>
            <a:solidFill>
              <a:srgbClr val="0A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52958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A2E61"/>
                </a:solidFill>
                <a:latin typeface="Apple SD Gothic Neo"/>
              </a:rPr>
              <a:t>Curriculum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8862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>
                <a:solidFill>
                  <a:srgbClr val="1F2A38"/>
                </a:solidFill>
                <a:latin typeface="Apple SD Gothic Neo"/>
              </a:rPr>
              <a:t>초반에는 MSE 중심으로 안정적으로 회귀를 배우고, 후반에는 score loss 비중을 높인다.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73152" cy="141732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52958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주의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8862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>
                <a:solidFill>
                  <a:srgbClr val="1F2A38"/>
                </a:solidFill>
                <a:latin typeface="Apple SD Gothic Neo"/>
              </a:rPr>
              <a:t>증강은 Train fold 안에서만 적용한다. LOBO 검증 베어링과 Validation/Test에는 증강을 적용하지 않는다.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5230368"/>
            <a:ext cx="9692640" cy="530352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394959"/>
            <a:ext cx="932688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enlo"/>
              </a:rPr>
              <a:t>loss = α·weighted_asym_MSE + (1-α)·score_loss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모델 학습부터 스코어 산출까지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22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51560"/>
          <a:ext cx="10607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5486400"/>
                <a:gridCol w="4343400"/>
              </a:tblGrid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ple SD Gothic Neo"/>
                        </a:rPr>
                        <a:t>순서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ple SD Gothic Neo"/>
                        </a:rPr>
                        <a:t>처리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ple SD Gothic Neo"/>
                        </a:rPr>
                        <a:t>결과물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Train1~4 중 하나를 검증 베어링으로 제외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LOBO fold 구성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나머지 Train 베어링으로 scaler fit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데이터 누수 방지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최근 10개 측정을 하나의 sequence로 구성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SEQ_LEN = 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TFT 5 seeds + BiLSTM 5 seeds 학습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fold당 10개 모델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각 모델의 예측을 median/mean/trimmed로 결합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outlier seed 영향 축소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6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asym_score로 Full, Last 계산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공식 점수 기반 내부 검증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Full/Last/Combined 비교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블렌딩 파라미터 선택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8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Test1~6는 모든 fold 모델로 ensemble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19" b="0">
                          <a:solidFill>
                            <a:srgbClr val="1F2A38"/>
                          </a:solidFill>
                          <a:latin typeface="Apple SD Gothic Neo"/>
                        </a:rPr>
                        <a:t>최종 submission.xlsx 생성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65099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051C41"/>
                </a:solidFill>
                <a:latin typeface="Apple SD Gothic Neo"/>
              </a:rPr>
              <a:t>핵심은 랜덤 split이 아니라 베어링 단위 LOBO 검증이다. 새로운 Validation 베어링을 맞히는 실제 문제와 가장 비슷한 평가 방식이다.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v24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HI-conditioned Blending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23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88720"/>
            <a:ext cx="5486400" cy="146304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53312"/>
            <a:ext cx="51206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enlo"/>
              </a:rPr>
              <a:t>w_high = sigmoid((HI - threshold) × slope)
pred = v17 × (1 - w_high) + v22 × w_high
pred = max(pred × beta, 600)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8872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188720"/>
            <a:ext cx="73152" cy="132588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7" y="1335024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v24 combined 최적값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1691640"/>
            <a:ext cx="40690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threshold = 0.8
slope = 40
beta = 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246120"/>
            <a:ext cx="4206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246120"/>
            <a:ext cx="73152" cy="141732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392424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749039"/>
            <a:ext cx="3886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HI &lt; 0.8이면 거의 v17을 사용한다. HI &gt; 0.8이면 거의 v22를 사용한다.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246120"/>
            <a:ext cx="4526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246120"/>
            <a:ext cx="73152" cy="141732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39242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실제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749039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Test1,2,3,4,6은 v17. Test5만 HI가 0.94라 v22 쪽으로 급격히 전환된다.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LOBO 검증 점수: Full · Last · Combined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24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Train 베어링의 전체 RUL 곡선을 모든 측정 시점에서 평가한 평균 점수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73152" cy="141732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각 Train 베어링의 마지막 측정 시점만 평가한 점수. 공식 제출 상황과 가장 유사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141732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8930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Combined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459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내부 선택 기준. Full과 Last를 함께 반영
Combined = 0.7×Full + 0.3×Last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063240"/>
          <a:ext cx="9875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051560"/>
                <a:gridCol w="1051560"/>
                <a:gridCol w="1234440"/>
                <a:gridCol w="3657600"/>
              </a:tblGrid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</a:rPr>
                        <a:t>후보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</a:rPr>
                        <a:t>Full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</a:rPr>
                        <a:t>Last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</a:rPr>
                        <a:t>Combined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</a:rPr>
                        <a:t>해석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v19 best full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(v17+v18)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0.629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0.600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0.620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전체 곡선 안정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v19 best combined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(v17+v18)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0.603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0.978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0.715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Last 매우 강함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v24 best full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(v17+v22)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0.637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0.308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0.538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Full 최고, Last 약함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v24 best combined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(v17+v22)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0.599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0.975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0.712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현재 1순위 제출 후보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v23 best combined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(3-way)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0.581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1.000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0.706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80" b="0">
                          <a:solidFill>
                            <a:srgbClr val="1F2A38"/>
                          </a:solidFill>
                          <a:latin typeface="Apple SD Gothic Neo"/>
                        </a:rPr>
                        <a:t>Last는 최고, Full 낮음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2960" y="5486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051C41"/>
                </a:solidFill>
                <a:latin typeface="Apple SD Gothic Neo"/>
              </a:rPr>
              <a:t>점수는 공식 A_RUL 기반이며 1.0에 가까울수록 좋다. 공식 제출은 마지막 시점 RUL 1개에 가까우므로 Last를 중요하게 보되, Last 과적합을 막기 위해 Full도 함께 본다.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실험 결과 시각화: 후보별 LOBO 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25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10185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38912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31596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65760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58444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2608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85292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19456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12140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46304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138988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1.00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3825" y="2548615"/>
            <a:ext cx="403468" cy="1840504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6393" y="2365735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45859" y="2633472"/>
            <a:ext cx="403468" cy="1755648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8427" y="2450592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37893" y="2574950"/>
            <a:ext cx="403468" cy="1814169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0461" y="2392070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53712"/>
            <a:ext cx="19632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A38"/>
                </a:solidFill>
                <a:latin typeface="Apple SD Gothic Neo"/>
              </a:rPr>
              <a:t>v19
best full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0369" y="2624693"/>
            <a:ext cx="403468" cy="1764426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2937" y="2441813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2403" y="1527413"/>
            <a:ext cx="403468" cy="2861706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4971" y="1344533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0.978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04437" y="2296972"/>
            <a:ext cx="403468" cy="2092147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7005" y="2114092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0.715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2384" y="4553712"/>
            <a:ext cx="19632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A38"/>
                </a:solidFill>
                <a:latin typeface="Apple SD Gothic Neo"/>
              </a:rPr>
              <a:t>v19
best comb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6913" y="2525207"/>
            <a:ext cx="403468" cy="1863912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9481" y="2342327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8947" y="3487887"/>
            <a:ext cx="403468" cy="901232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1515" y="3305007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0.308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0981" y="2814888"/>
            <a:ext cx="403468" cy="1574231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3549" y="2632008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0.538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4553712"/>
            <a:ext cx="19632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A38"/>
                </a:solidFill>
                <a:latin typeface="Apple SD Gothic Neo"/>
              </a:rPr>
              <a:t>v24
best full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3457" y="2636398"/>
            <a:ext cx="403468" cy="1752721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6025" y="2453518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0.599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45491" y="1536192"/>
            <a:ext cx="403468" cy="2852928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8059" y="1353312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0.975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7525" y="2305751"/>
            <a:ext cx="403468" cy="2083368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0093" y="2122871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0.712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4553712"/>
            <a:ext cx="19632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A38"/>
                </a:solidFill>
                <a:latin typeface="Apple SD Gothic Neo"/>
              </a:rPr>
              <a:t>v24
best comb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20001" y="2689067"/>
            <a:ext cx="403468" cy="1700052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92569" y="2506187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0.581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12035" y="1463040"/>
            <a:ext cx="403468" cy="29260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84603" y="1280160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1.000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04069" y="2323307"/>
            <a:ext cx="403468" cy="2065812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76637" y="2140427"/>
            <a:ext cx="541237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0.706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4553712"/>
            <a:ext cx="19632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A38"/>
                </a:solidFill>
                <a:latin typeface="Apple SD Gothic Neo"/>
              </a:rPr>
              <a:t>v23
best comb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1252728"/>
            <a:ext cx="118872" cy="118872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Full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1252728"/>
            <a:ext cx="118872" cy="118872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1092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Last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0" y="1252728"/>
            <a:ext cx="118872" cy="118872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7104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Combined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5193792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" y="5193792"/>
            <a:ext cx="73152" cy="841248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4128" y="5340096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205BA8"/>
                </a:solidFill>
                <a:latin typeface="Apple SD Gothic Neo"/>
              </a:rPr>
              <a:t>해석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" y="5696712"/>
            <a:ext cx="48920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A38"/>
                </a:solidFill>
                <a:latin typeface="Apple SD Gothic Neo"/>
              </a:rPr>
              <a:t>Full 최고는 v24 best full이지만 Last가 낮아 제출 후보로는 위험하다.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5193792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5193792"/>
            <a:ext cx="73152" cy="841248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53400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2D8C5E"/>
                </a:solidFill>
                <a:latin typeface="Apple SD Gothic Neo"/>
              </a:rPr>
              <a:t>해석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5696712"/>
            <a:ext cx="4572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A38"/>
                </a:solidFill>
                <a:latin typeface="Apple SD Gothic Neo"/>
              </a:rPr>
              <a:t>v24 best combined는 Last를 크게 살리면서 Full도 유지한 후보다.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실험 결과 시각화: v24 LOBO 예측 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26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pic>
        <p:nvPicPr>
          <p:cNvPr id="8" name="Picture 7" descr="blend_v17v22_LO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1078992"/>
            <a:ext cx="792099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632704"/>
            <a:ext cx="105156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632704"/>
            <a:ext cx="73152" cy="512064"/>
          </a:xfrm>
          <a:prstGeom prst="rect">
            <a:avLst/>
          </a:prstGeom>
          <a:solidFill>
            <a:srgbClr val="0A2E61"/>
          </a:solidFill>
          <a:ln>
            <a:solidFill>
              <a:srgbClr val="0A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779008"/>
            <a:ext cx="10195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A2E61"/>
                </a:solidFill>
                <a:latin typeface="Apple SD Gothic Neo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6135624"/>
            <a:ext cx="10195560" cy="-8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A38"/>
                </a:solidFill>
                <a:latin typeface="Apple SD Gothic Neo"/>
              </a:rPr>
              <a:t>검은 선은 실제 RUL, 파란/초록 선은 v17/v22, 빨간 선은 HI-blend 예측이다. LOBO 조건에서 예측 곡선을 비교한다.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실험 결과 시각화: Validation 최종 RUL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27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57607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49961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499616"/>
            <a:ext cx="3621481" cy="182880"/>
          </a:xfrm>
          <a:prstGeom prst="round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3433" y="146304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8.90h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0710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02539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2025396"/>
            <a:ext cx="3792382" cy="182880"/>
          </a:xfrm>
          <a:prstGeom prst="round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4334" y="19888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9.32h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3288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55117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2551176"/>
            <a:ext cx="728365" cy="182880"/>
          </a:xfrm>
          <a:prstGeom prst="round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0317" y="251460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1.79h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5866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07695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3076956"/>
            <a:ext cx="1595079" cy="182880"/>
          </a:xfrm>
          <a:prstGeom prst="round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7031" y="30403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3.92h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8444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60273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28800" y="3602736"/>
            <a:ext cx="73243" cy="182880"/>
          </a:xfrm>
          <a:prstGeom prst="round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75195" y="35661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0.18h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1022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1F2A38"/>
                </a:solidFill>
                <a:latin typeface="Apple SD Gothic Neo"/>
              </a:rPr>
              <a:t>Test6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128516"/>
            <a:ext cx="4069079" cy="182880"/>
          </a:xfrm>
          <a:prstGeom prst="roundRect">
            <a:avLst/>
          </a:prstGeom>
          <a:solidFill>
            <a:srgbClr val="E9EEF7"/>
          </a:solidFill>
          <a:ln>
            <a:solidFill>
              <a:srgbClr val="E9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28800" y="4128516"/>
            <a:ext cx="1314312" cy="182880"/>
          </a:xfrm>
          <a:prstGeom prst="round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6264" y="409194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A38"/>
                </a:solidFill>
                <a:latin typeface="Apple SD Gothic Neo"/>
              </a:rPr>
              <a:t>3.23h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812280" y="1143000"/>
          <a:ext cx="4160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60020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Apple SD Gothic Neo"/>
                        </a:rPr>
                        <a:t>Bearing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Apple SD Gothic Neo"/>
                        </a:rPr>
                        <a:t>RUL seconds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Apple SD Gothic Neo"/>
                        </a:rPr>
                        <a:t>RUL hours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32,035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8.90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33,556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9.32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6,449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1.79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Test4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14,113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3.92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644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0.18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Test6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11,641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969" b="0">
                          <a:solidFill>
                            <a:srgbClr val="1F2A38"/>
                          </a:solidFill>
                          <a:latin typeface="Apple SD Gothic Neo"/>
                        </a:rPr>
                        <a:t>3.23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6812280" y="4069080"/>
            <a:ext cx="4526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12280" y="4069080"/>
            <a:ext cx="73152" cy="96012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421538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23934"/>
                </a:solidFill>
                <a:latin typeface="Apple SD Gothic Neo"/>
              </a:rPr>
              <a:t>핵심 시각화 포인트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45720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Test5만 0.18h로 매우 짧다. v24는 Test5를 다음 10분 안팎 EOL로 본다.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실험 결과 시각화: Test5 민감도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28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10185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40740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726179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653027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7180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89864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21742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14426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0.75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463040"/>
            <a:ext cx="10332720" cy="5486"/>
          </a:xfrm>
          <a:prstGeom prst="rect">
            <a:avLst/>
          </a:prstGeom>
          <a:solidFill>
            <a:srgbClr val="E4EAF3"/>
          </a:solidFill>
          <a:ln>
            <a:solidFill>
              <a:srgbClr val="E4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1389888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>
                <a:solidFill>
                  <a:srgbClr val="5C687A"/>
                </a:solidFill>
                <a:latin typeface="Apple SD Gothic Neo"/>
              </a:rPr>
              <a:t>1.00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2494" y="2144999"/>
            <a:ext cx="336223" cy="233556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5062" y="1962119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0.774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2522" y="4480560"/>
            <a:ext cx="336223" cy="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95090" y="429768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2551" y="4480560"/>
            <a:ext cx="336223" cy="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5119" y="429768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600s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34614" y="2893344"/>
            <a:ext cx="336223" cy="1587215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182" y="2710464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0.526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4642" y="4480560"/>
            <a:ext cx="336223" cy="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7210" y="429768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54671" y="4459437"/>
            <a:ext cx="336223" cy="21122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7239" y="4276557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796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1,200s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56734" y="3463655"/>
            <a:ext cx="336223" cy="1016904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9302" y="3280775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0.337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6762" y="4480560"/>
            <a:ext cx="336223" cy="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9330" y="429768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76791" y="1547530"/>
            <a:ext cx="336223" cy="2933029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9359" y="136465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0.972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008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3,000s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8854" y="3605479"/>
            <a:ext cx="336223" cy="87508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1422" y="3422599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0.290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88882" y="4199930"/>
            <a:ext cx="336223" cy="280629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1450" y="401705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0.093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98911" y="2992922"/>
            <a:ext cx="336223" cy="1487637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1479" y="2810042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0.493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6,000s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00974" y="3656777"/>
            <a:ext cx="336223" cy="823782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3542" y="3473897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0.273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11002" y="1583740"/>
            <a:ext cx="336223" cy="2896819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3570" y="1400860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0.960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21031" y="3345972"/>
            <a:ext cx="336223" cy="1134587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3599" y="3163092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0.376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432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10,000s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3094" y="3680917"/>
            <a:ext cx="336223" cy="799642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95662" y="3498037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0.265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33122" y="2558399"/>
            <a:ext cx="336223" cy="192216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5690" y="2375519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0.637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43151" y="3490813"/>
            <a:ext cx="336223" cy="989746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15719" y="3307933"/>
            <a:ext cx="451031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>
                <a:solidFill>
                  <a:srgbClr val="1F2A38"/>
                </a:solidFill>
                <a:latin typeface="Apple SD Gothic Neo"/>
              </a:rPr>
              <a:t>0.328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6440" y="4645152"/>
            <a:ext cx="16360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15,000s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0" y="1252728"/>
            <a:ext cx="118872" cy="118872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5080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v24 644s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80" y="1252728"/>
            <a:ext cx="118872" cy="118872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1092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v19 10,118s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15600" y="1252728"/>
            <a:ext cx="118872" cy="118872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71048" y="1234440"/>
            <a:ext cx="7498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F2A38"/>
                </a:solidFill>
                <a:latin typeface="Apple SD Gothic Neo"/>
              </a:rPr>
              <a:t>v24 full 2,938s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" y="5257800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" y="5257800"/>
            <a:ext cx="73152" cy="841248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" y="5404104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C23934"/>
                </a:solidFill>
                <a:latin typeface="Apple SD Gothic Neo"/>
              </a:rPr>
              <a:t>해석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" y="5760720"/>
            <a:ext cx="48920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F2A38"/>
                </a:solidFill>
                <a:latin typeface="Apple SD Gothic Neo"/>
              </a:rPr>
              <a:t>Test5 실제 RUL이 6,000s 이하라면 v24가 유리하다.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5257800"/>
            <a:ext cx="4892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09360" y="5257800"/>
            <a:ext cx="73152" cy="841248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10528" y="540410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205BA8"/>
                </a:solidFill>
                <a:latin typeface="Apple SD Gothic Neo"/>
              </a:rPr>
              <a:t>리스크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5760720"/>
            <a:ext cx="4572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F2A38"/>
                </a:solidFill>
                <a:latin typeface="Apple SD Gothic Neo"/>
              </a:rPr>
              <a:t>Test5 실제 RUL이 10,000s 근처라면 v19가 유리하다.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v24 최종 Validation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29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234440"/>
          <a:ext cx="8778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920240"/>
                <a:gridCol w="1920240"/>
                <a:gridCol w="2103120"/>
              </a:tblGrid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Bearing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HI_last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v17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v22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v24 final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0.463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32,035s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39,775s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32,035s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Test2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33,556s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39,303s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33,556s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0.165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6,449s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7,311s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6,449s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Test4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0.448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14,113s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9,818s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14,113s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0.944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14,645s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600s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644s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Test6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0.410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11,641s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881s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F2A38"/>
                          </a:solidFill>
                          <a:latin typeface="Apple SD Gothic Neo"/>
                        </a:rPr>
                        <a:t>11,641s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0690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069080"/>
            <a:ext cx="73152" cy="11430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15384"/>
            <a:ext cx="4434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05BA8"/>
                </a:solidFill>
                <a:latin typeface="Apple SD Gothic Neo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572000"/>
            <a:ext cx="4434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v24는 대부분 v17을 유지하고, Test5만 고장 직전으로 판단한다.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4069080"/>
            <a:ext cx="73152" cy="114300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21538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리스크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5720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Test5가 실제로 오래 남았다면 v19가 더 좋을 수 있다. 승부처는 Test5다.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TCN-Transformer와 동역학 피처 리서치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30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31673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234440"/>
            <a:ext cx="10259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최근 베어링 RUL 연구는 TCN-Transformer 계열 구조를 적극적으로 활용한다.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21408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10259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공통 아이디어는 명확하다. TCN은 짧은 구간의 국소 열화 패턴을 잡고, Transformer는 긴 시간 의존성을 본다.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26079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43784"/>
            <a:ext cx="10259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성능이 좋은 연구들은 단일 진동값보다 시간·주파수·시간-주파수 피처를 함께 사용한다.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48456"/>
            <a:ext cx="10259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>
                <a:solidFill>
                  <a:srgbClr val="1F2A38"/>
                </a:solidFill>
                <a:latin typeface="Apple SD Gothic Neo"/>
              </a:rPr>
              <a:t>최근 흐름은 현재값 예측을 넘어, 열화 속도·가속도·궤적 유사도 같은 동역학 정보를 넣는 방향이다.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160520"/>
            <a:ext cx="73152" cy="105156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06824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5BA8"/>
                </a:solidFill>
                <a:latin typeface="Apple SD Gothic Neo"/>
              </a:rPr>
              <a:t>우리의 현재 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63440"/>
            <a:ext cx="29718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이미 TCN + Transformer 구조를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6052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160520"/>
            <a:ext cx="73152" cy="105156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4306824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부족한 부분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4663440"/>
            <a:ext cx="29718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명시적 동역학 피처가 약함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16052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4160520"/>
            <a:ext cx="73152" cy="105156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306824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D8C5E"/>
                </a:solidFill>
                <a:latin typeface="Apple SD Gothic Neo"/>
              </a:rPr>
              <a:t>다음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4663440"/>
            <a:ext cx="29718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A38"/>
                </a:solidFill>
                <a:latin typeface="Apple SD Gothic Neo"/>
              </a:rPr>
              <a:t>v25 = v24 + dynamics + DTW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왜 MADA/Domain Adaptation은 아직 없는가?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31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5BA8"/>
                </a:solidFill>
                <a:latin typeface="Apple SD Gothic Neo"/>
              </a:rPr>
              <a:t>MADA란?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45920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>
                <a:solidFill>
                  <a:srgbClr val="1F2A38"/>
                </a:solidFill>
                <a:latin typeface="Apple SD Gothic Neo"/>
              </a:rPr>
              <a:t>Multi-Adversarial Domain Adaptation. Source(Train)와 Target(Validation)의 feature 분포 차이를 줄이는 domain adaptation 방법이다.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73152" cy="18288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D8C5E"/>
                </a:solidFill>
                <a:latin typeface="Apple SD Gothic Neo"/>
              </a:rPr>
              <a:t>왜 중요하나?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45920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>
                <a:solidFill>
                  <a:srgbClr val="1F2A38"/>
                </a:solidFill>
                <a:latin typeface="Apple SD Gothic Neo"/>
              </a:rPr>
              <a:t>베어링마다 결함 모드, 노이즈, 채널 감도, 열화 속도가 다르다. Train에서 배운 feature가 Validation에 그대로 맞지 않을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182880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8930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왜 v24에는 없나?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45920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v24는 우선 LOBO 검증 점수와 제출값 안정화를 목표로 했다. MADA는 target pseudo label/stage 정의가 필요해 추가 검증 없이 넣으면 불안정할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73152" cy="160020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75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적용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319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RUL 회귀 문제이므로 class label 대신 HI 기반 degradation stage를 pseudo class로 나눈 뒤 stage-wise domain alignment를 적용한다.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29000"/>
            <a:ext cx="73152" cy="1600200"/>
          </a:xfrm>
          <a:prstGeom prst="rect">
            <a:avLst/>
          </a:prstGeom>
          <a:solidFill>
            <a:srgbClr val="0A2E61"/>
          </a:solidFill>
          <a:ln>
            <a:solidFill>
              <a:srgbClr val="0A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75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A2E61"/>
                </a:solidFill>
                <a:latin typeface="Apple SD Gothic Neo"/>
              </a:rPr>
              <a:t>후보 기법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DANN, MMD/CORAL, MADA, multi-source domain adaptation. Train1~4를 source domains로 보고 Validation을 target으로 둔다.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73152" cy="16002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57530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D8C5E"/>
                </a:solidFill>
                <a:latin typeface="Apple SD Gothic Neo"/>
              </a:rPr>
              <a:t>v26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9319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v25에서 동역학 피처를 먼저 안정화한 뒤, v26에서 HI-stage 기반 MADA를 실험하는 순서가 안전하다.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v25 제안: Test5를 검증하는 동역학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32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23444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718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ple SD Gothic Neo"/>
                        </a:rPr>
                        <a:t>추가 피처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d_HI_1 / d_HI_5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HI 단기/중기 변화량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slope_HI_5 / slope_HI_10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최근 열화 속도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acc_HI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열화 가속도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roll_std_HI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불안정성/충격적 변화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d_env_kurt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충격성 결함 진행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DTW distance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80" b="0">
                          <a:solidFill>
                            <a:srgbClr val="1F2A38"/>
                          </a:solidFill>
                          <a:latin typeface="Apple SD Gothic Neo"/>
                        </a:rPr>
                        <a:t>Train EOL 궤적과 유사도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23444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234440"/>
            <a:ext cx="73152" cy="132588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380744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23934"/>
                </a:solidFill>
                <a:latin typeface="Apple SD Gothic Neo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737360"/>
            <a:ext cx="40690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Test5의 높은 HI가 실제 EOL 근접 신호인지, 일시적 노이즈인지 구분한다.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88036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880360"/>
            <a:ext cx="73152" cy="13258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3026664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D8C5E"/>
                </a:solidFill>
                <a:latin typeface="Apple SD Gothic Neo"/>
              </a:rPr>
              <a:t>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83280"/>
            <a:ext cx="40690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A38"/>
                </a:solidFill>
                <a:latin typeface="Apple SD Gothic Neo"/>
              </a:rPr>
              <a:t>v24를 폐기하지 않고, 동역학 피처와 DTW로 제출값을 검증·보정한다.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892040"/>
            <a:ext cx="9738360" cy="65836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056631"/>
            <a:ext cx="93726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enlo"/>
              </a:rPr>
              <a:t>submission 후보 = v24 combined / v19 combined / v25 dynamics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이후 시도할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33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1. Test5 동역학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645920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HI가 높다는 사실만으로는 부족하다. 최근 HI 기울기, 가속도, envelope kurtosis 변화, 채널 에너지 변화가 함께 악화되는지 확인한다.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73152" cy="182880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89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5BA8"/>
                </a:solidFill>
                <a:latin typeface="Apple SD Gothic Neo"/>
              </a:rPr>
              <a:t>2. DTW 궤적 매칭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645920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Test 베어링의 HI 궤적이 Train1~4의 어느 열화 구간과 가장 유사한지 비교한다. 특히 EOL 직전 구간과 닮았는지 확인한다.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18288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8930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D8C5E"/>
                </a:solidFill>
                <a:latin typeface="Apple SD Gothic Neo"/>
              </a:rPr>
              <a:t>3. v25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645920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v22 피처에 동역학 피처를 추가하고, 기존 TCN-Transformer/BiLSTM 구조는 유지한다. 모델을 키우기보다 입력 정보를 개선한다.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73152" cy="150876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75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B9A2D"/>
                </a:solidFill>
                <a:latin typeface="Apple SD Gothic Neo"/>
              </a:rPr>
              <a:t>4. 제출 후보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31920"/>
            <a:ext cx="31089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v19, v24, v25를 같은 LOBO 기준으로 비교하고, Test5 예측이 얼마나 민감한지 시나리오 분석한다.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29000"/>
            <a:ext cx="73152" cy="1508760"/>
          </a:xfrm>
          <a:prstGeom prst="rect">
            <a:avLst/>
          </a:prstGeom>
          <a:solidFill>
            <a:srgbClr val="0A2E61"/>
          </a:solidFill>
          <a:ln>
            <a:solidFill>
              <a:srgbClr val="0A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75304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A2E61"/>
                </a:solidFill>
                <a:latin typeface="Apple SD Gothic Neo"/>
              </a:rPr>
              <a:t>5. 보고서 강화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31089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단순 딥러닝 구조가 아니라, 왜 특정 베어링을 EOL 근접으로 판단했는지 물리·신호처리 근거를 제시한다.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73152" cy="150876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57530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23934"/>
                </a:solidFill>
                <a:latin typeface="Apple SD Gothic Neo"/>
              </a:rPr>
              <a:t>6. Domain Adaptation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931920"/>
            <a:ext cx="301752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MADA/DANN/MMD는 v26 후보로 둔다. HI-stage pseudo label이 안정화된 뒤 적용한다.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Google Scholar 기반 관련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34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960120"/>
          <a:ext cx="1069847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977639"/>
                <a:gridCol w="3886200"/>
              </a:tblGrid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Apple SD Gothic Neo"/>
                        </a:rPr>
                        <a:t>연구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Apple SD Gothic Neo"/>
                        </a:rPr>
                        <a:t>핵심 아이디어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Apple SD Gothic Neo"/>
                        </a:rPr>
                        <a:t>우리 적용 포인트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Cao et al., 2024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TCN-Transformer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TCN + Transformer로 bearing RUL 예측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현재 TFTModel 구조와 유사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Peng et al., 2023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Local-enhancing Transformer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TCN attention으로 Transformer의 국소 패턴 보완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local degradation feature 강화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Tang et al., 2024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Parallel TCN + Transformer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TCN branch와 Transformer branch 병렬 결합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v25/v26 아키텍처 후보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Jin et al., 2025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Sensors TCN-Transformer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진동 신호 기반 TCN-Transformer RUL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v24 설명 근거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Cao et al., 2024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Multi-domain + TCN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시간·주파수·시간-주파수 피처 결합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동역학 피처 추가 근거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DTW / phase-space warping studies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열화 궤적 유사도 기반 RUL 추정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Test5 sanity check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MADA / DANN / MMD studies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Source-target feature distribution alignment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40" b="0">
                          <a:solidFill>
                            <a:srgbClr val="1F2A38"/>
                          </a:solidFill>
                          <a:latin typeface="Apple SD Gothic Neo"/>
                        </a:rPr>
                        <a:t>v26 domain adaptation 후보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Google Scholar: Domain Adaptation / MADA 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35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7472" y="896112"/>
          <a:ext cx="111099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4069080"/>
                <a:gridCol w="4434840"/>
              </a:tblGrid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Apple SD Gothic Neo"/>
                        </a:rPr>
                        <a:t>연구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Apple SD Gothic Neo"/>
                        </a:rPr>
                        <a:t>기법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Apple SD Gothic Neo"/>
                        </a:rPr>
                        <a:t>우리 적용 포인트</a:t>
                      </a:r>
                    </a:p>
                  </a:txBody>
                  <a:tcPr marL="54864" marR="54864" marT="36576" marB="36576">
                    <a:solidFill>
                      <a:srgbClr val="051C41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Tian et al., 2023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MDA-LETCN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Multistage degradation + domain adaptation + TCN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열화 stage별 분포 보정 아이디어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Wen et al., 2021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BGRU-DANN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Data-driven RUL prediction based on domain adaptation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Source/target feature alignment 기본형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Liu &amp; Gryllias, 2020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UDA-DANN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Unsupervised domain adaptation for rolling bearing RUL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Validation label 없이 적응하는 구조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Ding et al., 2022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Multi-source DA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Operating condition별 multi-source adaptation, MMD/CORAL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Train1~4를 multi-source로 보는 근거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Cao et al., 2026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Stage-aware DA Transformer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Degradation stage-aware adversarial domain adaptation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HI-stage pseudo label + Transformer 후보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Lu et al., 2025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Dynamic hybrid DA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Cross-domain rolling bearing RUL + attention contrastive learning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v26 고급 후보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Hu et al., 2022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Wasserstein DA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Working condition 차이를 Wasserstein distance로 보정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운전조건 변화 대응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Miao et al., 2022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Sparse DA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Different working conditions under sparse domain adaptation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작은 데이터 조건 대응</a:t>
                      </a:r>
                    </a:p>
                  </a:txBody>
                  <a:tcPr marL="54864" marR="54864" marT="36576" marB="36576">
                    <a:solidFill>
                      <a:srgbClr val="F4F7FC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Zhang et al., 2025</a:t>
                      </a:r>
                    </a:p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JDA Transformer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Joint domain-adaptive Transformer for bearing RUL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760" b="0">
                          <a:solidFill>
                            <a:srgbClr val="1F2A38"/>
                          </a:solidFill>
                          <a:latin typeface="Apple SD Gothic Neo"/>
                        </a:rPr>
                        <a:t>TCN/Transformer 이후 DA 결합 후보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6053328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1">
                <a:solidFill>
                  <a:srgbClr val="051C41"/>
                </a:solidFill>
                <a:latin typeface="Apple SD Gothic Neo"/>
              </a:rPr>
              <a:t>정리: v24에는 아직 MADA가 없지만, Train1~4와 Validation 간 분포 차이를 줄이기 위한 v26 후보로 명확히 가치가 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발표용 핵심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36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10561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43000"/>
            <a:ext cx="73152" cy="100584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28930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05BA8"/>
                </a:solidFill>
                <a:latin typeface="Apple SD Gothic Neo"/>
              </a:rPr>
              <a:t>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6459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본 과제는 Train 베어링의 run-to-failure 데이터를 기반으로, EOL 전 상태까지만 공개된 Validation 베어링의 남은 수명을 초 단위로 예측하는 문제입니다.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10561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23160"/>
            <a:ext cx="73152" cy="100584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56946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D8C5E"/>
                </a:solidFill>
                <a:latin typeface="Apple SD Gothic Neo"/>
              </a:rPr>
              <a:t>피처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9260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진동 신호에서 충격이 잘 보이는 대역을 찾고, envelope order 피처와 4채널 대칭 피처를 추출한 뒤, DTC-VAE로 건강지수 HI를 구성했습니다.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10561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73152" cy="100584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84962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B9A2D"/>
                </a:solidFill>
                <a:latin typeface="Apple SD Gothic Neo"/>
              </a:rPr>
              <a:t>모델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2062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A38"/>
                </a:solidFill>
                <a:latin typeface="Apple SD Gothic Neo"/>
              </a:rPr>
              <a:t>최근 10개 측정의 피처 시계열을 TCN-Transformer와 BiLSTM 다중 seed 앙상블에 입력하여 RUL을 예측했습니다.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92040"/>
            <a:ext cx="10561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892040"/>
            <a:ext cx="73152" cy="868680"/>
          </a:xfrm>
          <a:prstGeom prst="rect">
            <a:avLst/>
          </a:prstGeom>
          <a:solidFill>
            <a:srgbClr val="C23934"/>
          </a:solidFill>
          <a:ln>
            <a:solidFill>
              <a:srgbClr val="C23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03834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C23934"/>
                </a:solidFill>
                <a:latin typeface="Apple SD Gothic Neo"/>
              </a:rPr>
              <a:t>최종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394959"/>
            <a:ext cx="1024128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1F2A38"/>
                </a:solidFill>
                <a:latin typeface="Apple SD Gothic Neo"/>
              </a:rPr>
              <a:t>v24는 HI가 높은 Test5만 EOL 근접으로 판단하는 보수적 ensemble이며, 늦은 예측 패널티가 큰 공식 평가식에 맞춘 전략입니다.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51C41"/>
          </a:solidFill>
          <a:ln>
            <a:solidFill>
              <a:srgbClr val="05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DB9A2D"/>
                </a:solidFill>
                <a:latin typeface="Apple SD Gothic Neo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51C41"/>
                </a:solidFill>
                <a:latin typeface="Apple SD Gothic Neo"/>
              </a:rPr>
              <a:t>참고 방법론 및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463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37</a:t>
            </a:r>
          </a:p>
        </p:txBody>
      </p:sp>
      <p:pic>
        <p:nvPicPr>
          <p:cNvPr id="6" name="Picture 5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6327648"/>
            <a:ext cx="1234440" cy="250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638251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5C687A"/>
                </a:solidFill>
                <a:latin typeface="Apple SD Gothic Neo"/>
              </a:rPr>
              <a:t>KSPHM-KIMM 2026 Bearing RUL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161288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78992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KSPHM-KIMM 2026 공식 Notion 및 KIMM Data Platform: 데이터 조건, Train/Validation 정의, EOL 조건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249424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W. Cao et al., 2024, A remaining useful life prediction method for rolling bearing based on TCN-Transformer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37560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55264"/>
            <a:ext cx="10076688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H. Peng et al., 2023, Local enhancing Transformer with temporal convolutional attention mechanism for bearings RUL prediction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09160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626864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Y. Tang et al., 2024, RUL prediction of rolling bearings based on TCN and Transformer in parallel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79729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715000"/>
            <a:ext cx="10076688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X. Jin et al., 2025, Remaining Useful Life Prediction for Rolling Bearings Based on TCN-Transformer Networks Using Vibration Signals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716889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7086600"/>
            <a:ext cx="10076688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X. Cao et al., 2024, RUL prediction of rolling bearing based on multi-domain mixed features and temporal convolutional networks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8540496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8458200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DTW, phase-space warping, physics-informed Transformer 기반 bearing degradation tracking/RUL 연구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9628632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9546336"/>
            <a:ext cx="10076688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M. Tian et al., 2023, multistage degradation RUL prediction of wind turbine generator bearings based on domain adaptation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11000232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10917936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B. Wen et al., 2021, Data-driven remaining useful life prediction based on domain adaptation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12088367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12006072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C. Liu and K. Gryllias, 2020, Unsupervised domain adaptation based RUL prediction of rolling element bearings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13176503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13094207"/>
            <a:ext cx="10076688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Y. Ding et al., 2022, Transfer learning for RUL prediction across operating conditions based on multisource domain adaptation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14548103"/>
            <a:ext cx="82296" cy="82296"/>
          </a:xfrm>
          <a:prstGeom prst="ellipse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14465807"/>
            <a:ext cx="1007668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>
                <a:solidFill>
                  <a:srgbClr val="1F2A38"/>
                </a:solidFill>
                <a:latin typeface="Apple SD Gothic Neo"/>
              </a:rPr>
              <a:t>L. Cao et al., 2026, Staged domain adaptation with Transformer for bearing RUL prediction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498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DB9A2D"/>
                </a:solidFill>
                <a:latin typeface="Apple SD Gothic Neo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v24는 공식 평가식에 맞춘 제출 후보입니다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DCE8FF"/>
                </a:solidFill>
                <a:latin typeface="Apple SD Gothic Neo"/>
              </a:rPr>
              <a:t>핵심 리스크는 Test5의 EOL 근접성 판단이며, 이후에는 동역학 피처와 DTW 궤적 검증으로 이 판단을 보강하겠습니다.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063240"/>
            <a:ext cx="9784080" cy="749808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3227832"/>
            <a:ext cx="9418319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enlo"/>
              </a:rPr>
              <a:t>v24 = robust baseline(v17) + EOL-sensitive model(v22) + HI 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3200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343400"/>
            <a:ext cx="73152" cy="960120"/>
          </a:xfrm>
          <a:prstGeom prst="rect">
            <a:avLst/>
          </a:prstGeom>
          <a:solidFill>
            <a:srgbClr val="DB9A2D"/>
          </a:solidFill>
          <a:ln>
            <a:solidFill>
              <a:srgbClr val="DB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4897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B9A2D"/>
                </a:solidFill>
                <a:latin typeface="Apple SD Gothic Neo"/>
              </a:rPr>
              <a:t>현재 제출 후보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84632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submission_v24_v17v22_combined.xlsx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343400"/>
            <a:ext cx="3200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4343400"/>
            <a:ext cx="73152" cy="960120"/>
          </a:xfrm>
          <a:prstGeom prst="rect">
            <a:avLst/>
          </a:prstGeom>
          <a:solidFill>
            <a:srgbClr val="205BA8"/>
          </a:solidFill>
          <a:ln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44897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5BA8"/>
                </a:solidFill>
                <a:latin typeface="Apple SD Gothic Neo"/>
              </a:rPr>
              <a:t>백업 후보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84632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submission_v19_blend_combined.xlsx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343400"/>
            <a:ext cx="2926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343400"/>
            <a:ext cx="73152" cy="96012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4489704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D8C5E"/>
                </a:solidFill>
                <a:latin typeface="Apple SD Gothic Neo"/>
              </a:rPr>
              <a:t>다음 실험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84632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A38"/>
                </a:solidFill>
                <a:latin typeface="Apple SD Gothic Neo"/>
              </a:rPr>
              <a:t>v25 dynamics + DTW</a:t>
            </a:r>
          </a:p>
        </p:txBody>
      </p:sp>
      <p:pic>
        <p:nvPicPr>
          <p:cNvPr id="19" name="Picture 18" descr="hufs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199632"/>
            <a:ext cx="1417320" cy="2872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